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722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868680" y="205740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¿Quién es informal? Predicción y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política de formalización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68680" y="4114800"/>
            <a:ext cx="365760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9120" y="86868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¿Podemos anticipar si un trabajador es informal a partir de sus características </a:t>
            </a:r>
            <a:r>
              <a:rPr lang="en-US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</a:t>
            </a:r>
            <a:r>
              <a:rPr lang="en-US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educación, ingreso, horas trabajadas, tamaño del hogar y de la empresa?</a:t>
            </a:r>
            <a:endParaRPr lang="en-US" b="1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6766560" cy="1645920"/>
          </a:xfrm>
          <a:prstGeom prst="roundRect">
            <a:avLst>
              <a:gd name="adj" fmla="val 4444"/>
            </a:avLst>
          </a:prstGeom>
          <a:solidFill>
            <a:srgbClr val="F1F4F9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 quién llamamos informal?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Trabajador asalariado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empresa de más de 5 personas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que no se le hace el descuento jubilatorio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589520" y="114300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1A294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777240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evaluamos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0" y="173736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2024</a:t>
            </a:r>
            <a:endParaRPr lang="en-US" sz="2400" dirty="0"/>
          </a:p>
          <a:p>
            <a:pPr indent="0" algn="ctr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(train)</a:t>
            </a:r>
          </a:p>
          <a:p>
            <a:pPr marL="0" indent="0" algn="ctr">
              <a:buNone/>
            </a:pPr>
            <a:r>
              <a:rPr lang="en-US" sz="1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2025</a:t>
            </a:r>
          </a:p>
          <a:p>
            <a:pPr algn="ctr"/>
            <a:r>
              <a:rPr lang="en-US" sz="2400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(test)</a:t>
            </a:r>
            <a:endParaRPr lang="en-US" sz="4000" dirty="0"/>
          </a:p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clave: 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¿Saber si la persona ya era informal el año anterior ayuda a predecir mejor? 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¿Cambió la población entre 2024 y 2025?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las características promedio de los trabajadores en cada año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849694"/>
              </p:ext>
            </p:extLst>
          </p:nvPr>
        </p:nvGraphicFramePr>
        <p:xfrm>
          <a:off x="685800" y="2139696"/>
          <a:ext cx="6766560" cy="294436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¿Difiere?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43,8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44,5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Años de educación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12,7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12,8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laboral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(real)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878,6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1.013,5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 trabajadas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38,4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Tamaño del hogar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4,2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4,3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Tamaño de la empresa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14,6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15,0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554480"/>
            <a:ext cx="3931920" cy="4114800"/>
          </a:xfrm>
          <a:prstGeom prst="roundRect">
            <a:avLst>
              <a:gd name="adj" fmla="val 1860"/>
            </a:avLst>
          </a:prstGeom>
          <a:solidFill>
            <a:srgbClr val="F1F4F9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 dirty="0"/>
          </a:p>
        </p:txBody>
      </p:sp>
      <p:sp>
        <p:nvSpPr>
          <p:cNvPr id="6" name="Text 3"/>
          <p:cNvSpPr/>
          <p:nvPr/>
        </p:nvSpPr>
        <p:spPr>
          <a:xfrm>
            <a:off x="786384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diferencias significativas?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01000" y="2286000"/>
            <a:ext cx="33832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edad y la educación se mantienen estables de un año al otro.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3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 </a:t>
            </a:r>
            <a:r>
              <a:rPr lang="en-US" sz="13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aumentó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2024 a 2025.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existan algunas diferencias es normal: la encuesta renueva parte de los hogares cada año.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invalida el análisis: justamente probamos si el modelo sigue sirviendo al año siguiente.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modelos para predecir informalidad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1A2942"/>
          </a:solidFill>
          <a:ln/>
        </p:spPr>
        <p:txBody>
          <a:bodyPr/>
          <a:lstStyle/>
          <a:p>
            <a:endParaRPr lang="es-AR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1 — Ocupados_X_2024</a:t>
            </a:r>
            <a:b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historial</a:t>
            </a:r>
            <a:endParaRPr lang="en-US" sz="1700" dirty="0"/>
          </a:p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solo las características actuales de la persona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217920" y="123444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26406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6400800" y="14173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2 — Ocupados_X_2025_MM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historial</a:t>
            </a:r>
            <a:endParaRPr lang="en-US" sz="1700" dirty="0"/>
          </a:p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un dato clave: si la persona ya era informal el </a:t>
            </a:r>
            <a:r>
              <a:rPr lang="en-US" sz="13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anterior</a:t>
            </a:r>
            <a:endParaRPr lang="en-US" sz="17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F18581-95EE-F013-25C3-4F795AD92DBC}"/>
              </a:ext>
            </a:extLst>
          </p:cNvPr>
          <p:cNvSpPr txBox="1"/>
          <p:nvPr/>
        </p:nvSpPr>
        <p:spPr>
          <a:xfrm>
            <a:off x="731520" y="2990088"/>
            <a:ext cx="4663440" cy="32004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F4E78"/>
                </a:solidFill>
                <a:latin typeface="Calibri"/>
              </a:rPr>
              <a:t>Modelo 1 — train 2024 (sin </a:t>
            </a:r>
            <a:r>
              <a:rPr sz="1600" b="1" i="0" dirty="0" err="1">
                <a:solidFill>
                  <a:srgbClr val="1F4E78"/>
                </a:solidFill>
                <a:latin typeface="Calibri"/>
              </a:rPr>
              <a:t>informalidad</a:t>
            </a:r>
            <a:r>
              <a:rPr sz="1600" b="1" i="0" dirty="0">
                <a:solidFill>
                  <a:srgbClr val="1F4E78"/>
                </a:solidFill>
                <a:latin typeface="Calibri"/>
              </a:rPr>
              <a:t> previa)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D2CE220-5392-F059-3432-E7DACA7D9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08946"/>
              </p:ext>
            </p:extLst>
          </p:nvPr>
        </p:nvGraphicFramePr>
        <p:xfrm>
          <a:off x="731520" y="3401568"/>
          <a:ext cx="4663440" cy="24688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50800" marR="50800" marT="12700" marB="12700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Coef.</a:t>
                      </a:r>
                    </a:p>
                  </a:txBody>
                  <a:tcPr marL="50800" marR="50800" marT="12700" marB="12700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Err.Est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50800" marR="50800" marT="12700" marB="12700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z</a:t>
                      </a:r>
                    </a:p>
                  </a:txBody>
                  <a:tcPr marL="50800" marR="50800" marT="12700" marB="12700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P&gt;|z|</a:t>
                      </a:r>
                    </a:p>
                  </a:txBody>
                  <a:tcPr marL="50800" marR="50800" marT="12700" marB="12700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OR</a:t>
                      </a:r>
                    </a:p>
                  </a:txBody>
                  <a:tcPr marL="50800" marR="50800" marT="12700" marB="12700" anchor="ctr"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E6DA4"/>
                          </a:solidFill>
                          <a:latin typeface="Calibri"/>
                        </a:rPr>
                        <a:t>Constante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1.4958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0.4936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3.03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4.46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E6DA4"/>
                          </a:solidFill>
                          <a:latin typeface="Calibri"/>
                        </a:rPr>
                        <a:t>Edad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-0.1095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0.0233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-4.71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E6DA4"/>
                          </a:solidFill>
                          <a:latin typeface="Calibri"/>
                        </a:rPr>
                        <a:t>Edad²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0.0009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0.0003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3.38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  <a:latin typeface="Calibri"/>
                        </a:rPr>
                        <a:t>0.001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Educación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-0.0090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0.0131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-0.69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0.491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0.99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Horas trab.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0.0039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0.0028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1.39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0.164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Miembros hogar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0.0235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0.0157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1.50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0.135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1.02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E6DA4"/>
                          </a:solidFill>
                          <a:latin typeface="Calibri"/>
                        </a:rPr>
                        <a:t>Ingreso (real)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~0.000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~0.000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-9.60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E6DA4"/>
                          </a:solidFill>
                          <a:latin typeface="Calibri"/>
                        </a:rPr>
                        <a:t>Tamaño establec.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-0.0146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0.0031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-4.76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dirty="0">
                          <a:solidFill>
                            <a:srgbClr val="404040"/>
                          </a:solidFill>
                          <a:latin typeface="Calibri"/>
                        </a:rPr>
                        <a:t>0.99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80F2BAC-A01C-AD48-FD02-F3DA0AF06C88}"/>
              </a:ext>
            </a:extLst>
          </p:cNvPr>
          <p:cNvSpPr txBox="1"/>
          <p:nvPr/>
        </p:nvSpPr>
        <p:spPr>
          <a:xfrm>
            <a:off x="731520" y="5943599"/>
            <a:ext cx="4663440" cy="27432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1050" b="1" i="1">
                <a:solidFill>
                  <a:srgbClr val="1F4E78"/>
                </a:solidFill>
                <a:latin typeface="Calibri"/>
              </a:rPr>
              <a:t>N = 6.196   |   Pseudo R² = 0.082   |   AIC = 3.622   |   AUC = 0.705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549C9D-46B7-6463-D855-7A2855268827}"/>
              </a:ext>
            </a:extLst>
          </p:cNvPr>
          <p:cNvSpPr txBox="1"/>
          <p:nvPr/>
        </p:nvSpPr>
        <p:spPr>
          <a:xfrm>
            <a:off x="6629400" y="2990088"/>
            <a:ext cx="4663440" cy="32004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</a:rPr>
              <a:t>Modelo 2 — con informalidad rezagada (2024)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BFD9958-D47D-10A6-57A4-2D0EF92A69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205817"/>
              </p:ext>
            </p:extLst>
          </p:nvPr>
        </p:nvGraphicFramePr>
        <p:xfrm>
          <a:off x="6629400" y="3401568"/>
          <a:ext cx="466344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50800" marR="50800" marT="12700" marB="12700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Coef.</a:t>
                      </a:r>
                    </a:p>
                  </a:txBody>
                  <a:tcPr marL="50800" marR="50800" marT="12700" marB="12700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Err.Est.</a:t>
                      </a:r>
                    </a:p>
                  </a:txBody>
                  <a:tcPr marL="50800" marR="50800" marT="12700" marB="12700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z</a:t>
                      </a:r>
                    </a:p>
                  </a:txBody>
                  <a:tcPr marL="50800" marR="50800" marT="12700" marB="12700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P&gt;|z|</a:t>
                      </a:r>
                    </a:p>
                  </a:txBody>
                  <a:tcPr marL="50800" marR="50800" marT="12700" marB="12700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OR</a:t>
                      </a:r>
                    </a:p>
                  </a:txBody>
                  <a:tcPr marL="50800" marR="50800" marT="12700" marB="12700" anchor="ctr"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Constante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1.1129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1.5611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0.71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0.476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3.04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E6DA4"/>
                          </a:solidFill>
                          <a:latin typeface="Calibri"/>
                        </a:rPr>
                        <a:t>Edad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-0.1545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0.0708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-2.18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  <a:latin typeface="Calibri"/>
                        </a:rPr>
                        <a:t>0.029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0.86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dirty="0">
                          <a:solidFill>
                            <a:srgbClr val="404040"/>
                          </a:solidFill>
                          <a:latin typeface="Calibri"/>
                        </a:rPr>
                        <a:t>Edad²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0.0014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0.0008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1.82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0.068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Educación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-0.0508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0.0320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-1.59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0.112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Horas trab.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0.0089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0.0072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1.24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0.214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1.01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Miembros hogar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-0.0056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0.0366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-0.15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0.879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0.99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Ingreso (real)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~0.000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~0.000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-0.90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0.366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E6DA4"/>
                          </a:solidFill>
                          <a:latin typeface="Calibri"/>
                        </a:rPr>
                        <a:t>Tamaño establec.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-0.0245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0.0092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-2.65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  <a:latin typeface="Calibri"/>
                        </a:rPr>
                        <a:t>0.008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0.98</a:t>
                      </a:r>
                    </a:p>
                  </a:txBody>
                  <a:tcPr marL="50800" marR="50800" marT="12700" marB="127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E6DA4"/>
                          </a:solidFill>
                          <a:latin typeface="Calibri"/>
                        </a:rPr>
                        <a:t>Informal 2024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3.6990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0.2302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  <a:latin typeface="Calibri"/>
                        </a:rPr>
                        <a:t>16.07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dirty="0">
                          <a:solidFill>
                            <a:srgbClr val="404040"/>
                          </a:solidFill>
                          <a:latin typeface="Calibri"/>
                        </a:rPr>
                        <a:t>40.41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28BABBA-0E3F-D805-3F76-FD4895D37757}"/>
              </a:ext>
            </a:extLst>
          </p:cNvPr>
          <p:cNvSpPr txBox="1"/>
          <p:nvPr/>
        </p:nvSpPr>
        <p:spPr>
          <a:xfrm>
            <a:off x="6629400" y="6217920"/>
            <a:ext cx="4663440" cy="27432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1050" b="1" i="1">
                <a:solidFill>
                  <a:srgbClr val="1F4E78"/>
                </a:solidFill>
                <a:latin typeface="Calibri"/>
              </a:rPr>
              <a:t>N = 1.781   |   Pseudo R² = 0.361   |   AIC = 636   |   AUC = 0.881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¿En qué edades se concentra la informalidad?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7955280" y="1417320"/>
            <a:ext cx="3657600" cy="3657600"/>
          </a:xfrm>
          <a:prstGeom prst="roundRect">
            <a:avLst>
              <a:gd name="adj" fmla="val 2000"/>
            </a:avLst>
          </a:prstGeom>
          <a:solidFill>
            <a:srgbClr val="F1F4F9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2"/>
          <p:cNvSpPr/>
          <p:nvPr/>
        </p:nvSpPr>
        <p:spPr>
          <a:xfrm>
            <a:off x="813816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nos dice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75320" y="2011680"/>
            <a:ext cx="32461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gráfico acumula a los trabajadores informales según su edad.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subida rápida en edades jóvenes muestra que la informalidad se concentra allí.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de la mitad de los informales tiene menos de ~[XX] años.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Implicancia: un programa rinde más si se enfoca en los jóvenes.</a:t>
            </a:r>
            <a:endParaRPr lang="en-US" sz="125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67FABD4-C24B-34D2-6D3F-95136E8CB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76" y="1417320"/>
            <a:ext cx="7458568" cy="40018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tan bien predicen los modelos?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944986"/>
              </p:ext>
            </p:extLst>
          </p:nvPr>
        </p:nvGraphicFramePr>
        <p:xfrm>
          <a:off x="6287910" y="1371600"/>
          <a:ext cx="5324970" cy="1828800"/>
        </p:xfrm>
        <a:graphic>
          <a:graphicData uri="http://schemas.openxmlformats.org/drawingml/2006/table">
            <a:tbl>
              <a:tblPr/>
              <a:tblGrid>
                <a:gridCol w="2828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8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8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Clasificaciones correctas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latin typeface="Calibri" charset="0"/>
                          <a:ea typeface="Calibri" charset="0"/>
                          <a:cs typeface="Calibri" charset="0"/>
                        </a:rPr>
                        <a:t>90,5%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latin typeface="Calibri" charset="0"/>
                          <a:ea typeface="Calibri" charset="0"/>
                          <a:cs typeface="Calibri" charset="0"/>
                        </a:rPr>
                        <a:t>93,8%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Informales bien detectados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latin typeface="Calibri" charset="0"/>
                          <a:ea typeface="Calibri" charset="0"/>
                          <a:cs typeface="Calibri" charset="0"/>
                        </a:rPr>
                        <a:t>0%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latin typeface="Calibri" charset="0"/>
                          <a:ea typeface="Calibri" charset="0"/>
                          <a:cs typeface="Calibri" charset="0"/>
                        </a:rPr>
                        <a:t>54.7%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 de discriminar (AUC)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latin typeface="Calibri" charset="0"/>
                          <a:ea typeface="Calibri" charset="0"/>
                          <a:cs typeface="Calibri" charset="0"/>
                        </a:rPr>
                        <a:t>0,705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latin typeface="Calibri" charset="0"/>
                          <a:ea typeface="Calibri" charset="0"/>
                          <a:cs typeface="Calibri" charset="0"/>
                        </a:rPr>
                        <a:t>0,881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6232877" y="3657601"/>
            <a:ext cx="5486400" cy="1535289"/>
          </a:xfrm>
          <a:prstGeom prst="roundRect">
            <a:avLst>
              <a:gd name="adj" fmla="val 4000"/>
            </a:avLst>
          </a:prstGeom>
          <a:solidFill>
            <a:srgbClr val="F1F4F9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2"/>
          <p:cNvSpPr/>
          <p:nvPr/>
        </p:nvSpPr>
        <p:spPr>
          <a:xfrm>
            <a:off x="6323189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con el porcentaje de aciertos</a:t>
            </a:r>
            <a:endParaRPr lang="en-US" sz="1400" dirty="0"/>
          </a:p>
        </p:txBody>
      </p:sp>
      <p:sp>
        <p:nvSpPr>
          <p:cNvPr id="4" name="Text 3"/>
          <p:cNvSpPr/>
          <p:nvPr/>
        </p:nvSpPr>
        <p:spPr>
          <a:xfrm>
            <a:off x="6323189" y="416052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solo ~1 de cada 10 trabajadores es informal, un modelo que dijera "todos formales" acertaría el 90%… sin detectar a ningún informal. Por eso lo importante es cuántos informales logra detectar.</a:t>
            </a:r>
            <a:endParaRPr lang="en-US" sz="13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96F965A-A617-6A93-A4C8-7F09A1849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048" y="1267178"/>
            <a:ext cx="5771517" cy="43236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modelo conviene para el programa?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escasos: hay que elegir bien a quién llega la ayuda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760720" y="1577340"/>
            <a:ext cx="5394960" cy="976079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5943600" y="1752025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Falsa </a:t>
            </a:r>
            <a:r>
              <a:rPr lang="en-US" sz="1600" b="1" dirty="0" err="1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alarma</a:t>
            </a:r>
            <a:r>
              <a:rPr lang="en-US" sz="16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Error de Tipo I</a:t>
            </a:r>
            <a:endParaRPr lang="en-US" sz="1600" dirty="0"/>
          </a:p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como informal a quien no lo es → se gastan recursos en quien no los necesita.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60720" y="2749239"/>
            <a:ext cx="5394960" cy="1391440"/>
          </a:xfrm>
          <a:prstGeom prst="roundRect">
            <a:avLst>
              <a:gd name="adj" fmla="val 4103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6035040" y="2999405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no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detectado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Error de Tipo II</a:t>
            </a:r>
            <a:endParaRPr lang="en-US" sz="1600" dirty="0"/>
          </a:p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identificar a un informal → el programa NO llega a quien más lo necesita.</a:t>
            </a:r>
            <a:endParaRPr lang="en-US" sz="1600" dirty="0"/>
          </a:p>
        </p:txBody>
      </p:sp>
      <p:pic>
        <p:nvPicPr>
          <p:cNvPr id="9" name="Picture 8" descr="D_confusion.png">
            <a:extLst>
              <a:ext uri="{FF2B5EF4-FFF2-40B4-BE49-F238E27FC236}">
                <a16:creationId xmlns:a16="http://schemas.microsoft.com/office/drawing/2014/main" id="{A07C8B4E-82B3-0182-4508-F7225E4DB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" y="1526589"/>
            <a:ext cx="4758200" cy="2614090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380C5BAA-9E0A-53DA-83B1-7522A4B0DA5D}"/>
              </a:ext>
            </a:extLst>
          </p:cNvPr>
          <p:cNvSpPr/>
          <p:nvPr/>
        </p:nvSpPr>
        <p:spPr>
          <a:xfrm>
            <a:off x="670560" y="4345701"/>
            <a:ext cx="1049259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300" b="1" dirty="0">
                <a:solidFill>
                  <a:schemeClr val="bg1"/>
                </a:solidFill>
              </a:rPr>
              <a:t>Modelo 1 (sin historia laboral): falla crítica.</a:t>
            </a:r>
            <a:r>
              <a:rPr lang="es-AR" sz="1300" dirty="0">
                <a:solidFill>
                  <a:schemeClr val="bg1"/>
                </a:solidFill>
              </a:rPr>
              <a:t> Error Tipo II = 542 (el 100% de los informales) y Tipo I = 0 → no detecta a ningún informal. Su alta "exactitud" (~90%) es un espejismo del desbalance de clases: inútil para focalizar el programa.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3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300" b="1" dirty="0">
                <a:solidFill>
                  <a:schemeClr val="bg1"/>
                </a:solidFill>
              </a:rPr>
              <a:t>Modelo 2 MM (con informalidad previa): recorta el error que importa.</a:t>
            </a:r>
            <a:r>
              <a:rPr lang="es-AR" sz="1300" dirty="0">
                <a:solidFill>
                  <a:schemeClr val="bg1"/>
                </a:solidFill>
              </a:rPr>
              <a:t> Sacrifica algo de Tipo I (49 falsas alarmas) para reducir el Tipo II de 542 a 62 → pasa a captar 75 informales reales (</a:t>
            </a:r>
            <a:r>
              <a:rPr lang="es-AR" sz="1300" dirty="0" err="1">
                <a:solidFill>
                  <a:schemeClr val="bg1"/>
                </a:solidFill>
              </a:rPr>
              <a:t>Recall</a:t>
            </a:r>
            <a:r>
              <a:rPr lang="es-AR" sz="1300" dirty="0">
                <a:solidFill>
                  <a:schemeClr val="bg1"/>
                </a:solidFill>
              </a:rPr>
              <a:t> ≈ 55%).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3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300" b="1" dirty="0">
                <a:solidFill>
                  <a:schemeClr val="bg1"/>
                </a:solidFill>
              </a:rPr>
              <a:t>El </a:t>
            </a:r>
            <a:r>
              <a:rPr lang="es-AR" sz="1300" b="1" dirty="0" err="1">
                <a:solidFill>
                  <a:schemeClr val="bg1"/>
                </a:solidFill>
              </a:rPr>
              <a:t>trade</a:t>
            </a:r>
            <a:r>
              <a:rPr lang="es-AR" sz="1300" b="1" dirty="0">
                <a:solidFill>
                  <a:schemeClr val="bg1"/>
                </a:solidFill>
              </a:rPr>
              <a:t>-off es deliberado, no un defecto.</a:t>
            </a:r>
            <a:r>
              <a:rPr lang="es-AR" sz="1300" dirty="0">
                <a:solidFill>
                  <a:schemeClr val="bg1"/>
                </a:solidFill>
              </a:rPr>
              <a:t> En un programa de formalización el Error Tipo II (dejar afuera a un informal) es más costoso que el Tipo I (incluir de más a un formal); por eso conviene priorizar </a:t>
            </a:r>
            <a:r>
              <a:rPr lang="es-AR" sz="1300" dirty="0" err="1">
                <a:solidFill>
                  <a:schemeClr val="bg1"/>
                </a:solidFill>
              </a:rPr>
              <a:t>Recall</a:t>
            </a:r>
            <a:r>
              <a:rPr lang="es-AR" sz="1300" dirty="0">
                <a:solidFill>
                  <a:schemeClr val="bg1"/>
                </a:solidFill>
              </a:rPr>
              <a:t> sobre Precisión.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3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300" b="1" dirty="0">
                <a:solidFill>
                  <a:schemeClr val="bg1"/>
                </a:solidFill>
              </a:rPr>
              <a:t>Umbral: b</a:t>
            </a:r>
            <a:r>
              <a:rPr lang="es-AR" sz="1300" dirty="0">
                <a:solidFill>
                  <a:schemeClr val="bg1"/>
                </a:solidFill>
              </a:rPr>
              <a:t>ajarlo por debajo de 0,5 reduciría aún más el Tipo II (mayor cobertura) a cambio de aceptar más Tipo I, ajustando el modelo al objetivo de no dejar trabajadores precarizados sin asistencia.</a:t>
            </a:r>
          </a:p>
          <a:p>
            <a:br>
              <a:rPr lang="es-AR" dirty="0"/>
            </a:br>
            <a:endParaRPr lang="es-AR" dirty="0"/>
          </a:p>
          <a:p>
            <a:br>
              <a:rPr lang="es-AR" dirty="0"/>
            </a:br>
            <a:endParaRPr lang="es-AR" dirty="0"/>
          </a:p>
          <a:p>
            <a:br>
              <a:rPr lang="es-AR" dirty="0"/>
            </a:br>
            <a:endParaRPr lang="es-A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698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informalidad se repite en el tiempo: conocer el historial mejora la predicción.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concentra en los trabajadores más jóvenes y en los de menor educación.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porcentaje de aciertos engaña; lo que importa es cuántos informales se detectan.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asignar recursos escasos, conviene priorizar la detección de informales antes que evitar falsas alarmas.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4572000"/>
            <a:ext cx="105156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960</Words>
  <Application>Microsoft Office PowerPoint</Application>
  <PresentationFormat>Widescreen</PresentationFormat>
  <Paragraphs>223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TP4 — Clasificando informales en la EPH</dc:title>
  <dc:subject>PptxGenJS Presentation</dc:subject>
  <dc:creator>Grupo 1</dc:creator>
  <cp:lastModifiedBy>Juan Cruz Pombo</cp:lastModifiedBy>
  <cp:revision>3</cp:revision>
  <dcterms:created xsi:type="dcterms:W3CDTF">2026-05-29T11:56:13Z</dcterms:created>
  <dcterms:modified xsi:type="dcterms:W3CDTF">2026-05-29T15:27:26Z</dcterms:modified>
</cp:coreProperties>
</file>