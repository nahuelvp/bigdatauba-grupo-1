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0" r:id="rId11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F3A5F"/>
                </a:solidFill>
                <a:latin typeface="Calibri"/>
              </a:rPr>
              <a:t>TP4 — Informalidad en la EPH: base vieja vs. base corregida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5D6D7E"/>
                </a:solidFill>
                <a:latin typeface="Calibri"/>
              </a:rPr>
              <a:t>Big Data y Machine Learning (527) · UBA 2026 · Grupo 1   |   Qué cambió en la metodología y qué resultó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4864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C0392B"/>
                </a:solidFill>
                <a:latin typeface="Calibri"/>
              </a:rPr>
              <a:t>3 cambios metodológicos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1.  Fuera los ingresos.  Se elimina P21/P47T (y su deflactor IPC) de la matriz X. La informalidad ya no se "explica" con el salario, que es casi una definición circular.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2.  Horas de TODOS los ocupados.  Antes horastrab se calculaba solo para jefes de hogar; eso sesgaba la muestra hacia trabajadores más formales. Ahora entra todo asalariado.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00" b="0">
                <a:solidFill>
                  <a:srgbClr val="212121"/>
                </a:solidFill>
                <a:latin typeface="Calibri"/>
              </a:rPr>
              <a:t>3.  Más covariables (7 → 16).  Se agregan dummies de educación (sec_completo, universitario), demográficas (mujer, casado, jefe_hogar), jornada/pluriempleo, cobertura y sector (construcción/comercio, 2 dígitos CAES).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12121"/>
                </a:solidFill>
                <a:latin typeface="Calibri"/>
              </a:rPr>
              <a:t>Se quita además el requisito de "jefe de hogar" para entrar al análisis.</a:t>
            </a:r>
          </a:p>
        </p:txBody>
      </p:sp>
      <p:pic>
        <p:nvPicPr>
          <p:cNvPr id="5" name="Picture 4" descr="c1_muestra_v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20240"/>
            <a:ext cx="5394960" cy="20667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5806440"/>
            <a:ext cx="5394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0">
                <a:solidFill>
                  <a:srgbClr val="5D6D7E"/>
                </a:solidFill>
                <a:latin typeface="Calibri"/>
              </a:rPr>
              <a:t>Efecto directo: la muestra modelable se DUPLICA (6.196 → 14.463 en train) al no exigir jefe de hogar ni dato de ingreso.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Qué cambió en el modelo logístico (coeficientes y ajuste)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6583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1965960"/>
                <a:gridCol w="1965960"/>
              </a:tblGrid>
              <a:tr h="483325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 marL="73152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Base vieja (7 vars)</a:t>
                      </a:r>
                    </a:p>
                  </a:txBody>
                  <a:tcPr marL="73152" marR="45720" marT="18288" marB="18288"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Base corregida (16 vars)</a:t>
                      </a:r>
                    </a:p>
                  </a:txBody>
                  <a:tcPr marL="73152" marR="45720" marT="18288" marB="18288" anchor="ctr">
                    <a:solidFill>
                      <a:srgbClr val="1F3A5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Calibri"/>
                        </a:rPr>
                        <a:t>Pseudo-R² (Modelo 1)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0,082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0,128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Calibri"/>
                        </a:rPr>
                        <a:t>OR informal_2024 (M2)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40,4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22,5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Calibri"/>
                        </a:rPr>
                        <a:t>OR sin_cobertura (M1)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— (no estaba)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4,23  ***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Calibri"/>
                        </a:rPr>
                        <a:t>OR sector_comercio (M1)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— (no estaba)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2,83  ***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Calibri"/>
                        </a:rPr>
                        <a:t>OR jornada_completa (M1)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— (no estaba)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0,48  ***</a:t>
                      </a:r>
                    </a:p>
                  </a:txBody>
                  <a:tcPr marL="73152" marR="45720" marT="18288" marB="18288" anchor="ctr">
                    <a:solidFill>
                      <a:srgbClr val="EEF2F6"/>
                    </a:solidFill>
                  </a:tcPr>
                </a:tc>
              </a:tr>
              <a:tr h="48333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212121"/>
                          </a:solidFill>
                          <a:latin typeface="Calibri"/>
                        </a:rPr>
                        <a:t>Rol del ingreso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P21 muy signif. (z=-9,6)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212121"/>
                          </a:solidFill>
                          <a:latin typeface="Calibri"/>
                        </a:rPr>
                        <a:t>excluido por diseño</a:t>
                      </a:r>
                    </a:p>
                  </a:txBody>
                  <a:tcPr marL="73152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06640" y="1280160"/>
            <a:ext cx="438912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Lectura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• El ajuste mejora: el pseudo-R² del Modelo 1 sube de 0,082 a 0,128 pese a sacar el ingreso, porque entran determinantes estructurales reales de la informalidad.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• La persistencia sigue mandando: informal_2024 es el predictor más fuerte en ambas versiones, pero su OR baja de 40,4 a 22,5 al competir con más covariables (efecto menos sobreestimado).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• Aparecen señales económicas nuevas: sin obra social (×4,2), comercio (×2,8) elevan la chance de informalidad; la jornada completa la reduce a la mitad.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D6D7E"/>
                </a:solidFill>
                <a:latin typeface="Calibri"/>
              </a:rPr>
              <a:t>*** p&lt;0,01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Resultados de desempeño fuera de muestra (test 2025 T3)</a:t>
            </a:r>
          </a:p>
        </p:txBody>
      </p:sp>
      <p:pic>
        <p:nvPicPr>
          <p:cNvPr id="4" name="Picture 3" descr="c2_auc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6949440" cy="2662305"/>
          </a:xfrm>
          <a:prstGeom prst="rect">
            <a:avLst/>
          </a:prstGeom>
        </p:spPr>
      </p:pic>
      <p:pic>
        <p:nvPicPr>
          <p:cNvPr id="5" name="Picture 4" descr="TP4_D_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371600"/>
            <a:ext cx="4297680" cy="36700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543800" y="580644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>
                <a:solidFill>
                  <a:srgbClr val="5D6D7E"/>
                </a:solidFill>
                <a:latin typeface="Calibri"/>
              </a:rPr>
              <a:t>ROC base corregida: Modelo 2 MM (rojo) domina al Modelo 1 (azul) en todo el rango.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6949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C0392B"/>
                </a:solidFill>
                <a:latin typeface="Calibri"/>
              </a:rPr>
              <a:t>Qué mejoró y qué empeoró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AUC sube en ambos modelos: M1 0,705→0,760 y M2 MM 0,881→0,897. Mejor poder discriminante con una matriz más honesta.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El panel MM casi se triplica (1.781→4.435), dando una evaluación más robusta.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12121"/>
                </a:solidFill>
                <a:latin typeface="Calibri"/>
              </a:rPr>
              <a:t>• Trade-off: al p≥0,5 el Recall del M2 MM cae (0,55→0,38). Sin el ingreso —fuerte separador— el modelo es más conservador; recupera sensibilidad bajando el umbral.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Síntesis: por qué la base corregida es la versión válida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3611880" cy="2926080"/>
          </a:xfrm>
          <a:prstGeom prst="rect">
            <a:avLst/>
          </a:prstGeom>
          <a:solidFill>
            <a:srgbClr val="F4F6F8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61188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Más válida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Saca el ingreso (endógeno a la definición de informalidad) y deja de exigir jefe de hogar. El modelo explica con determinantes reales, no con una variable casi-circular.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554480"/>
            <a:ext cx="3611880" cy="2926080"/>
          </a:xfrm>
          <a:prstGeom prst="rect">
            <a:avLst/>
          </a:prstGeom>
          <a:solidFill>
            <a:srgbClr val="F4F6F8"/>
          </a:solidFill>
          <a:ln w="1905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611880" cy="548640"/>
          </a:xfrm>
          <a:prstGeom prst="rect">
            <a:avLst/>
          </a:prstGeom>
          <a:solidFill>
            <a:srgbClr val="1E8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Más representativa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La muestra modelable se duplica (14.463 en train) y el panel longitudinal MM se triplica (4.435). Menos sesgo de selección, evaluación más robusta.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554480"/>
            <a:ext cx="3611880" cy="2926080"/>
          </a:xfrm>
          <a:prstGeom prst="rect">
            <a:avLst/>
          </a:prstGeom>
          <a:solidFill>
            <a:srgbClr val="F4F6F8"/>
          </a:solidFill>
          <a:ln w="19050">
            <a:solidFill>
              <a:srgbClr val="1F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1554480"/>
            <a:ext cx="3611880" cy="54864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Mejor desempeño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286000"/>
            <a:ext cx="32461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AUC sube en los dos modelos (M1 0,76; M2 MM 0,90) y el ajuste mejora (pseudo-R² 0,082→0,128), pese a usar menos información "fácil".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46320"/>
            <a:ext cx="11064240" cy="12344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Conclusión: el hallazgo central se mantiene —la informalidad es persistente (informal_2024 domina)— pero ahora surge de un modelo sin variables de ingreso, con muestra más amplia y mejor poder predictivo. Es la especificación correcta para el TP4.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1F3A5F"/>
                </a:solidFill>
                <a:latin typeface="Calibri"/>
              </a:rPr>
              <a:t>Matrices de confusión: qué cambió en los aciertos y errores</a:t>
            </a:r>
          </a:p>
        </p:txBody>
      </p:sp>
      <p:pic>
        <p:nvPicPr>
          <p:cNvPr id="4" name="Picture 3" descr="c3_confusion_2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666683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720840" y="1234440"/>
            <a:ext cx="5074920" cy="5212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C0392B"/>
                </a:solidFill>
                <a:latin typeface="Calibri"/>
              </a:rPr>
              <a:t>Diferencias clave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• Modelo 1 — el ingreso "tapaba" el problema. En la base vieja, M1 no marcaba ni un solo informal (TP=0, recall 0): clasificaba todo como formal. En la corregida apenas detecta 16 de 1.443; sin el salario como atajo, un modelo sin trayectoria previa casi no discrimina al umbral 0,5.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• Modelo 2 MM — el que de verdad sirve. Es el único que captura informales en ambas versiones gracias a informal_2024. Vieja: 75 de 137 (recall 55%). Corregida: 147 de 384 (recall 38%) sobre un panel casi 3× más grande (4.435 vs 1.781).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• El trade-off es honesto, no un empeoramiento. Al quitar el ingreso (separador casi circular) el modelo se vuelve más conservador: menos verdaderos positivos al 0,5, pero sobre una muestra más amplia y sin hacer trampa. Bajando el umbral se recupera recall.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212121"/>
                </a:solidFill>
                <a:latin typeface="Calibri"/>
              </a:rPr>
              <a:t>• Los falsos positivos siguen siendo bajos (FP: 82 sobre 4.051 formales en M2 corregido): el modelo rara vez "molesta" a un formal.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