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 snapToObjects="1">
      <p:cViewPr varScale="1">
        <p:scale>
          <a:sx n="99" d="100"/>
          <a:sy n="99" d="100"/>
        </p:scale>
        <p:origin x="96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dirty="0" err="1">
                <a:solidFill>
                  <a:srgbClr val="FFFFFF"/>
                </a:solidFill>
                <a:latin typeface="Calibri"/>
              </a:rPr>
              <a:t>Clasificando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Calibri"/>
              </a:rPr>
              <a:t>informales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la EPH</a:t>
            </a:r>
          </a:p>
          <a:p>
            <a:pPr algn="l">
              <a:spcAft>
                <a:spcPts val="1400"/>
              </a:spcAft>
            </a:pPr>
            <a:r>
              <a:rPr sz="4000" b="1" dirty="0">
                <a:solidFill>
                  <a:srgbClr val="FFFFFF"/>
                </a:solidFill>
                <a:latin typeface="Calibri"/>
              </a:rPr>
              <a:t>con </a:t>
            </a:r>
            <a:r>
              <a:rPr sz="4000" b="1" dirty="0" err="1">
                <a:solidFill>
                  <a:srgbClr val="FFFFFF"/>
                </a:solidFill>
                <a:latin typeface="Calibri"/>
              </a:rPr>
              <a:t>métodos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de </a:t>
            </a:r>
            <a:r>
              <a:rPr sz="4000" b="1" dirty="0" err="1">
                <a:solidFill>
                  <a:srgbClr val="FFFFFF"/>
                </a:solidFill>
                <a:latin typeface="Calibri"/>
              </a:rPr>
              <a:t>regularización</a:t>
            </a:r>
            <a:endParaRPr sz="4000" b="1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2000" b="0" dirty="0">
                <a:solidFill>
                  <a:srgbClr val="BDC3C7"/>
                </a:solidFill>
                <a:latin typeface="Calibri"/>
              </a:rPr>
              <a:t>Ridge y LASSO  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160520"/>
            <a:ext cx="20116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2733"/>
                </a:solidFill>
                <a:latin typeface="Calibri"/>
              </a:rPr>
              <a:t>El problema y el enfoque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2C3E50"/>
                </a:solidFill>
                <a:latin typeface="Calibri"/>
              </a:rPr>
              <a:t>Predecir la informalidad laboral (EPH) con regresión logística regularizada.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Validación: train 2024  →  test 2025  (enfoque Maurizio &amp; Monsalvo, 2021).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Matriz X de 16 variables socioeconómicas — sin ninguna variable de ingreso.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Comparamos: logit sin penalidad  vs  Ridge (L2)  vs  LASSO (L1).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¿Por qué excluir el ingreso?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7F8C8D"/>
                </a:solidFill>
                <a:latin typeface="Calibri"/>
              </a:rPr>
              <a:t>El ingreso es consecuencia de la informalidad, no causa: causalidad inversa, bad control y leakage casi definicional. De incluirlo, su señal espuria dominaría LASSO y taparía los determinantes estructurales accionables por política.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1A2733"/>
                </a:solidFill>
                <a:latin typeface="Calibri"/>
              </a:rPr>
              <a:t>Marco </a:t>
            </a:r>
            <a:r>
              <a:rPr sz="3000" b="1" dirty="0" err="1">
                <a:solidFill>
                  <a:srgbClr val="1A2733"/>
                </a:solidFill>
                <a:latin typeface="Calibri"/>
              </a:rPr>
              <a:t>teórico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: </a:t>
            </a:r>
            <a:r>
              <a:rPr sz="3000" b="1" dirty="0" err="1">
                <a:solidFill>
                  <a:srgbClr val="1A2733"/>
                </a:solidFill>
                <a:latin typeface="Calibri"/>
              </a:rPr>
              <a:t>regularización</a:t>
            </a:r>
            <a:endParaRPr sz="3000" b="1" dirty="0">
              <a:solidFill>
                <a:srgbClr val="1A2733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Restringir el espacio de coeficientes: aceptar algo de sesgo para reducir drásticamente la varianza (trade-off sesgo–varianza). λ regula la intensidad; en sklearn, C = 1/λ.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560320"/>
            <a:ext cx="5394960" cy="3566160"/>
          </a:xfrm>
          <a:prstGeom prst="rect">
            <a:avLst/>
          </a:prstGeom>
          <a:solidFill>
            <a:srgbClr val="F4F6F7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2980B9"/>
                </a:solidFill>
                <a:latin typeface="Calibri"/>
              </a:rPr>
              <a:t>RIDGE  (L2)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Penaliza Σβ²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Encoge los coeficientes de forma suave.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Solución interior: nunca los anula.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Domestica la colinealidad (p. ej. edad/edad²).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560320"/>
            <a:ext cx="5394960" cy="3566160"/>
          </a:xfrm>
          <a:prstGeom prst="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C0392B"/>
                </a:solidFill>
                <a:latin typeface="Calibri"/>
              </a:rPr>
              <a:t>LASSO  (L1)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Penaliza Σ|β|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No diferenciable en cero → soluciones de esquina.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Selecciona variables: las pone exactamente en cero.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Estandarizamos solo las numéricas; dummies en 0/1.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 err="1">
                <a:solidFill>
                  <a:srgbClr val="1A2733"/>
                </a:solidFill>
                <a:latin typeface="Calibri"/>
              </a:rPr>
              <a:t>Diferencia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 de medias 2024 vs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Test t de Welch sobre las 16 características. Solo 2 difieren significativamente entre años.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88720" y="2240280"/>
          <a:ext cx="9784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Media 2024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Media 2025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Dif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p-valor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nhogar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5,035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5,140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+0,105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C0392B"/>
                          </a:solidFill>
                          <a:latin typeface="Calibri"/>
                        </a:rPr>
                        <a:t>0,009 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horastrab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36,90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37,34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+0,44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C0392B"/>
                          </a:solidFill>
                          <a:latin typeface="Calibri"/>
                        </a:rPr>
                        <a:t>0,023 **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40,40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40,62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+0,22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0,134 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educ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12,76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12,72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−0,04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0,372  ns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sin_cobertura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0,215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0,217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+0,002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0,763 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 err="1">
                <a:solidFill>
                  <a:srgbClr val="1A2733"/>
                </a:solidFill>
                <a:latin typeface="Calibri"/>
              </a:rPr>
              <a:t>Trayectoria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 de </a:t>
            </a:r>
            <a:r>
              <a:rPr sz="3000" b="1" dirty="0" err="1">
                <a:solidFill>
                  <a:srgbClr val="1A2733"/>
                </a:solidFill>
                <a:latin typeface="Calibri"/>
              </a:rPr>
              <a:t>coeficientes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2733"/>
                </a:solidFill>
                <a:latin typeface="Calibri"/>
              </a:rPr>
              <a:t>según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2733"/>
                </a:solidFill>
                <a:latin typeface="Calibri"/>
              </a:rPr>
              <a:t>λ</a:t>
            </a:r>
            <a:endParaRPr sz="3000" b="1" dirty="0">
              <a:solidFill>
                <a:srgbClr val="1A2733"/>
              </a:solidFill>
              <a:latin typeface="Calibri"/>
            </a:endParaRPr>
          </a:p>
        </p:txBody>
      </p:sp>
      <p:pic>
        <p:nvPicPr>
          <p:cNvPr id="4" name="Picture 3" descr="TP5_B1_coefs_gri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1417320"/>
            <a:ext cx="10424160" cy="44444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 err="1">
                <a:solidFill>
                  <a:srgbClr val="1A2733"/>
                </a:solidFill>
                <a:latin typeface="Calibri"/>
              </a:rPr>
              <a:t>Penalidad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2733"/>
                </a:solidFill>
                <a:latin typeface="Calibri"/>
              </a:rPr>
              <a:t>óptima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2733"/>
                </a:solidFill>
                <a:latin typeface="Calibri"/>
              </a:rPr>
              <a:t>por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 CV (5-fold)</a:t>
            </a:r>
          </a:p>
        </p:txBody>
      </p:sp>
      <p:pic>
        <p:nvPicPr>
          <p:cNvPr id="4" name="Picture 3" descr="TP5_B2_cv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371600"/>
            <a:ext cx="10241280" cy="36442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532120"/>
            <a:ext cx="11155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dirty="0">
                <a:solidFill>
                  <a:srgbClr val="C0392B"/>
                </a:solidFill>
                <a:latin typeface="Calibri"/>
              </a:rPr>
              <a:t>Ambas </a:t>
            </a:r>
            <a:r>
              <a:rPr sz="1800" b="1" dirty="0" err="1">
                <a:solidFill>
                  <a:srgbClr val="C0392B"/>
                </a:solidFill>
                <a:latin typeface="Calibri"/>
              </a:rPr>
              <a:t>penalidades</a:t>
            </a:r>
            <a:r>
              <a:rPr sz="1800" b="1" dirty="0">
                <a:solidFill>
                  <a:srgbClr val="C0392B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C0392B"/>
                </a:solidFill>
                <a:latin typeface="Calibri"/>
              </a:rPr>
              <a:t>eligen</a:t>
            </a:r>
            <a:r>
              <a:rPr sz="1800" b="1" dirty="0">
                <a:solidFill>
                  <a:srgbClr val="C0392B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C0392B"/>
                </a:solidFill>
                <a:latin typeface="Calibri"/>
              </a:rPr>
              <a:t>λ</a:t>
            </a:r>
            <a:r>
              <a:rPr sz="1800" b="1" dirty="0">
                <a:solidFill>
                  <a:srgbClr val="C0392B"/>
                </a:solidFill>
                <a:latin typeface="Calibri"/>
              </a:rPr>
              <a:t>ᴄᴠ = 10⁻⁵ (error </a:t>
            </a:r>
            <a:r>
              <a:rPr sz="1800" b="1" dirty="0" err="1">
                <a:solidFill>
                  <a:srgbClr val="C0392B"/>
                </a:solidFill>
                <a:latin typeface="Calibri"/>
              </a:rPr>
              <a:t>mínimo</a:t>
            </a:r>
            <a:r>
              <a:rPr sz="1800" b="1" dirty="0">
                <a:solidFill>
                  <a:srgbClr val="C0392B"/>
                </a:solidFill>
                <a:latin typeface="Calibri"/>
              </a:rPr>
              <a:t> 7,3%). La </a:t>
            </a:r>
            <a:r>
              <a:rPr sz="1800" b="1" dirty="0" err="1">
                <a:solidFill>
                  <a:srgbClr val="C0392B"/>
                </a:solidFill>
                <a:latin typeface="Calibri"/>
              </a:rPr>
              <a:t>penalidad</a:t>
            </a:r>
            <a:r>
              <a:rPr sz="1800" b="1" dirty="0">
                <a:solidFill>
                  <a:srgbClr val="C0392B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C0392B"/>
                </a:solidFill>
                <a:latin typeface="Calibri"/>
              </a:rPr>
              <a:t>óptima</a:t>
            </a:r>
            <a:r>
              <a:rPr sz="1800" b="1" dirty="0">
                <a:solidFill>
                  <a:srgbClr val="C0392B"/>
                </a:solidFill>
                <a:latin typeface="Calibri"/>
              </a:rPr>
              <a:t> es </a:t>
            </a:r>
            <a:r>
              <a:rPr sz="1800" b="1" dirty="0" err="1">
                <a:solidFill>
                  <a:srgbClr val="C0392B"/>
                </a:solidFill>
                <a:latin typeface="Calibri"/>
              </a:rPr>
              <a:t>casi</a:t>
            </a:r>
            <a:r>
              <a:rPr sz="1800" b="1" dirty="0">
                <a:solidFill>
                  <a:srgbClr val="C0392B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C0392B"/>
                </a:solidFill>
                <a:latin typeface="Calibri"/>
              </a:rPr>
              <a:t>nula</a:t>
            </a:r>
            <a:r>
              <a:rPr sz="1800" b="1" dirty="0">
                <a:solidFill>
                  <a:srgbClr val="C039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1A2733"/>
                </a:solidFill>
                <a:latin typeface="Calibri"/>
              </a:rPr>
              <a:t>¿</a:t>
            </a:r>
            <a:r>
              <a:rPr sz="3000" b="1" dirty="0" err="1">
                <a:solidFill>
                  <a:srgbClr val="1A2733"/>
                </a:solidFill>
                <a:latin typeface="Calibri"/>
              </a:rPr>
              <a:t>Cuándo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2733"/>
                </a:solidFill>
                <a:latin typeface="Calibri"/>
              </a:rPr>
              <a:t>elimina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 variables LASSO?</a:t>
            </a:r>
          </a:p>
        </p:txBody>
      </p:sp>
      <p:pic>
        <p:nvPicPr>
          <p:cNvPr id="4" name="Picture 3" descr="TP5_B2_lasso_ce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371600"/>
            <a:ext cx="7863840" cy="4333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 err="1">
                <a:solidFill>
                  <a:srgbClr val="1A2733"/>
                </a:solidFill>
                <a:latin typeface="Calibri"/>
              </a:rPr>
              <a:t>Coeficientes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: sin </a:t>
            </a:r>
            <a:r>
              <a:rPr sz="3000" b="1" dirty="0" err="1">
                <a:solidFill>
                  <a:srgbClr val="1A2733"/>
                </a:solidFill>
                <a:latin typeface="Calibri"/>
              </a:rPr>
              <a:t>penalidad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 vs L1 vs L2</a:t>
            </a:r>
          </a:p>
        </p:txBody>
      </p:sp>
      <p:pic>
        <p:nvPicPr>
          <p:cNvPr id="4" name="Picture 3" descr="TP5_B3_comparacion_coe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371600"/>
            <a:ext cx="10607040" cy="39359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 err="1">
                <a:solidFill>
                  <a:srgbClr val="1A2733"/>
                </a:solidFill>
                <a:latin typeface="Calibri"/>
              </a:rPr>
              <a:t>Conclusiones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2733"/>
                </a:solidFill>
                <a:latin typeface="Calibri"/>
              </a:rPr>
              <a:t>socioeconómicas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C0392B"/>
                </a:solidFill>
                <a:latin typeface="Calibri"/>
              </a:rPr>
              <a:t>Persistencia del estado  —  informal_2024 (coef. 3,11)</a:t>
            </a:r>
          </a:p>
          <a:p>
            <a:pPr algn="l">
              <a:spcAft>
                <a:spcPts val="1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Haber sido informal el año previo es, por lejos, el mejor predictor. La informalidad es un estado persistente, no transitorio: una trampa que exige políticas de formalización sostenidas.</a:t>
            </a:r>
          </a:p>
          <a:p>
            <a:pPr algn="l">
              <a:spcAft>
                <a:spcPts val="400"/>
              </a:spcAft>
            </a:pPr>
            <a:r>
              <a:rPr sz="2100" b="1">
                <a:solidFill>
                  <a:srgbClr val="C0392B"/>
                </a:solidFill>
                <a:latin typeface="Calibri"/>
              </a:rPr>
              <a:t>Falta de cobertura de salud  —  sin_cobertura (1,47)</a:t>
            </a:r>
          </a:p>
          <a:p>
            <a:pPr algn="l">
              <a:spcAft>
                <a:spcPts val="1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Segunda señal más fuerte y la última que LASSO descartaría. Refleja la naturaleza casi definicional de la informalidad: empleo no registrado sin obra social ni aportes.</a:t>
            </a:r>
          </a:p>
          <a:p>
            <a:pPr algn="l">
              <a:spcAft>
                <a:spcPts val="400"/>
              </a:spcAft>
            </a:pPr>
            <a:r>
              <a:rPr sz="2100" b="1">
                <a:solidFill>
                  <a:srgbClr val="C0392B"/>
                </a:solidFill>
                <a:latin typeface="Calibri"/>
              </a:rPr>
              <a:t>Perfil etario en U  —  edad (−1,43) · edad² (+1,15)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Informalidad alta entre los más jóvenes, cae hacia la adultez y vuelve a subir en edades avanzadas: inserción precaria al inicio y al final de la vida laboral.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 err="1">
                <a:solidFill>
                  <a:srgbClr val="1A2733"/>
                </a:solidFill>
                <a:latin typeface="Calibri"/>
              </a:rPr>
              <a:t>Conclusiones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2733"/>
                </a:solidFill>
                <a:latin typeface="Calibri"/>
              </a:rPr>
              <a:t>socioeconómicas</a:t>
            </a:r>
            <a:r>
              <a:rPr sz="3000" b="1" dirty="0">
                <a:solidFill>
                  <a:srgbClr val="1A2733"/>
                </a:solidFill>
                <a:latin typeface="Calibri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2980B9"/>
                </a:solidFill>
                <a:latin typeface="Calibri"/>
              </a:rPr>
              <a:t>Educación universitaria  —  +0,56 (p = 0,045)</a:t>
            </a:r>
          </a:p>
          <a:p>
            <a:pPr algn="l">
              <a:spcAft>
                <a:spcPts val="2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Asociada a mayor informalidad una vez controlado el resto: informalidad “de salida” o cuentapropismo profesional (Perry et al., 2007), distinta de la informalidad de subsistencia.</a:t>
            </a:r>
          </a:p>
          <a:p>
            <a:pPr algn="l">
              <a:spcAft>
                <a:spcPts val="400"/>
              </a:spcAft>
            </a:pPr>
            <a:r>
              <a:rPr sz="2100" b="1">
                <a:solidFill>
                  <a:srgbClr val="2980B9"/>
                </a:solidFill>
                <a:latin typeface="Calibri"/>
              </a:rPr>
              <a:t>Género  —  mujer (−0,41)</a:t>
            </a:r>
          </a:p>
          <a:p>
            <a:pPr algn="l">
              <a:spcAft>
                <a:spcPts val="2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Entre asalariados, las mujeres muestran menor probabilidad de informalidad que los varones, condicionando por edad, educación y sector.</a:t>
            </a:r>
          </a:p>
          <a:p>
            <a:pPr algn="l">
              <a:spcAft>
                <a:spcPts val="400"/>
              </a:spcAft>
            </a:pPr>
            <a:r>
              <a:rPr sz="2100" b="1">
                <a:solidFill>
                  <a:srgbClr val="1A2733"/>
                </a:solidFill>
                <a:latin typeface="Calibri"/>
              </a:rPr>
              <a:t>Síntesis metodológica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Con n ≫ p la regularización no mejora la predicción, pero el ejercicio confirma qué determinantes son robustos: persistencia, cobertura y edad estructuran la informalidad.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dirty="0">
                <a:solidFill>
                  <a:srgbClr val="FFFFFF"/>
                </a:solidFill>
                <a:latin typeface="Calibri"/>
              </a:rPr>
              <a:t>Con n ≫ p la </a:t>
            </a:r>
            <a:r>
              <a:rPr sz="2700" b="1" dirty="0" err="1">
                <a:solidFill>
                  <a:srgbClr val="FFFFFF"/>
                </a:solidFill>
                <a:latin typeface="Calibri"/>
              </a:rPr>
              <a:t>regularización</a:t>
            </a:r>
            <a:r>
              <a:rPr sz="27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Calibri"/>
              </a:rPr>
              <a:t>óptima</a:t>
            </a:r>
            <a:r>
              <a:rPr sz="2700" b="1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700" b="1" dirty="0" err="1">
                <a:solidFill>
                  <a:srgbClr val="FFFFFF"/>
                </a:solidFill>
                <a:latin typeface="Calibri"/>
              </a:rPr>
              <a:t>casi</a:t>
            </a:r>
            <a:r>
              <a:rPr sz="27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Calibri"/>
              </a:rPr>
              <a:t>nula</a:t>
            </a:r>
            <a:r>
              <a:rPr sz="2700" b="1" dirty="0">
                <a:solidFill>
                  <a:srgbClr val="FFFFFF"/>
                </a:solidFill>
                <a:latin typeface="Calibri"/>
              </a:rPr>
              <a:t>:</a:t>
            </a:r>
          </a:p>
          <a:p>
            <a:pPr algn="l">
              <a:spcAft>
                <a:spcPts val="1800"/>
              </a:spcAft>
            </a:pPr>
            <a:r>
              <a:rPr sz="2700" b="1" dirty="0">
                <a:solidFill>
                  <a:srgbClr val="FFFFFF"/>
                </a:solidFill>
                <a:latin typeface="Calibri"/>
              </a:rPr>
              <a:t>Ridge y LASSO </a:t>
            </a:r>
            <a:r>
              <a:rPr sz="2700" b="1" dirty="0" err="1">
                <a:solidFill>
                  <a:srgbClr val="FFFFFF"/>
                </a:solidFill>
                <a:latin typeface="Calibri"/>
              </a:rPr>
              <a:t>convergen</a:t>
            </a:r>
            <a:r>
              <a:rPr sz="2700" b="1" dirty="0">
                <a:solidFill>
                  <a:srgbClr val="FFFFFF"/>
                </a:solidFill>
                <a:latin typeface="Calibri"/>
              </a:rPr>
              <a:t> al logit sin </a:t>
            </a:r>
            <a:r>
              <a:rPr sz="2700" b="1" dirty="0" err="1">
                <a:solidFill>
                  <a:srgbClr val="FFFFFF"/>
                </a:solidFill>
                <a:latin typeface="Calibri"/>
              </a:rPr>
              <a:t>penalidad</a:t>
            </a:r>
            <a:r>
              <a:rPr sz="2700" b="1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BDC3C7"/>
                </a:solidFill>
                <a:latin typeface="Calibri"/>
              </a:rPr>
              <a:t>Lo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que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modelo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sí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revela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: la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informalidad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 es un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estado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persistente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marcado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por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 la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falta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cobertura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 y un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perfil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etario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BDC3C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BDC3C7"/>
                </a:solidFill>
                <a:latin typeface="Calibri"/>
              </a:rPr>
              <a:t> 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630</Words>
  <Application>Microsoft Macintosh PowerPoint</Application>
  <PresentationFormat>Panorámica</PresentationFormat>
  <Paragraphs>76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Nahuel Andres Vasquez</cp:lastModifiedBy>
  <cp:revision>3</cp:revision>
  <dcterms:created xsi:type="dcterms:W3CDTF">2013-01-27T09:14:16Z</dcterms:created>
  <dcterms:modified xsi:type="dcterms:W3CDTF">2026-06-12T13:25:41Z</dcterms:modified>
  <cp:category/>
</cp:coreProperties>
</file>