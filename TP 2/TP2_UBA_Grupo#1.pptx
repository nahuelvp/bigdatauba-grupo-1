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/>
    <p:restoredTop sz="94610"/>
  </p:normalViewPr>
  <p:slideViewPr>
    <p:cSldViewPr snapToGrid="0" snapToObjects="1">
      <p:cViewPr>
        <p:scale>
          <a:sx n="133" d="100"/>
          <a:sy n="133" d="100"/>
        </p:scale>
        <p:origin x="16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54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N° 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61413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primer encuentro con la EPH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2328" y="2701089"/>
            <a:ext cx="25603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340842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 |  Upper-tier informal wage employees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EPH y qué variables usamos?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Permanente de Hogares (EPH) es el principal relevamiento de mercado laboral de Argentina. El INDEC la realiza trimestralmente en 31 aglomerados urbanos. Cada fila es una persona encuestada; cada columna, una variable del cuestionario.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6974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CODUSU, ANO4, TRIMESTRE, NRO_HOGAR, PONDERA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20116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172968" y="2011680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264408" y="204825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personales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4408" y="2331720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CH04 (sexo), CH06 (edad), CH07(estado civil), CH08 (cobertura médica)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20116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025896" y="2011680"/>
            <a:ext cx="2697480" cy="2560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117336" y="204825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laboral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17336" y="23317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ESTADO(estado ocupacional), CAT_OCUP(ocupación), NIVEL_ED, EMPLEO, SECTOR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26974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11480" y="32826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Formalidad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PP04C (tamaño empresa), PP07H (descuento jubilatorio), </a:t>
            </a:r>
            <a:r>
              <a:rPr lang="es-AR" sz="1000" dirty="0"/>
              <a:t>PP03I (Horas trabajadas)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2461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3172968" y="3246120"/>
            <a:ext cx="269748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3264408" y="32826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35661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 (ingreso principal), P47T (ingreso total)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limpieza y armonización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572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1325880"/>
            <a:ext cx="79827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60120" y="13807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Armonización de tipos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367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CH08 (cobertura medica) figuraba como int64 en 2024 y float64 en 2025. Se unificó a Int64 (admite NaN).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57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1248" y="2194560"/>
            <a:ext cx="79827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sin sentido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0545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 y P47T tenían valores -9 (código INDEC de no respuesta). Reemplazados por NaN. 2024: 3.403 en P21 y 4.862 en P47T.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572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20040" y="30632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1248" y="3063240"/>
            <a:ext cx="79827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dummy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741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crearon variables binarias para CH04, ESTADO, CAT_OCUP, SECTOR y NIVEL_ED con etiquetas descriptivas.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45720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320040" y="39319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1248" y="3931920"/>
            <a:ext cx="79827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960120" y="39867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por inflación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2428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 2024 T1 convertidos a pesos de 2025 T1. Factor: 1.7861 (inflación acumulada: 78.6%).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41509" y="233172"/>
            <a:ext cx="41024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 valores faltantes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212080" y="1261872"/>
            <a:ext cx="36118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5212080" y="1261872"/>
            <a:ext cx="3611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321808" y="12801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nulos — amarillo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21808" y="155448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identificación y sociodemográficas. Se preguntan a todos los encuestados.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2423160"/>
            <a:ext cx="36118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212080" y="2423160"/>
            <a:ext cx="36118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321808" y="24414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~56% nulos — rojo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21808" y="271576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empleo (PP04C, PP07H, EMPLEO...). Solo se preguntan a ocupados — el 56% restante no trabaja.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3584448"/>
            <a:ext cx="36118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5212080" y="3584448"/>
            <a:ext cx="361188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321808" y="36027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7–12% nulos — naranja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21808" y="387705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 y P47T: valores -9 convertidos a NaN durante la limpieza.</a:t>
            </a:r>
            <a:endParaRPr lang="en-US" sz="11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54317F3-8BCC-D611-D752-A12D05916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4" y="0"/>
            <a:ext cx="442118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correlación — 2024 T1 y 2025 T1</a:t>
            </a:r>
            <a:endParaRPr lang="en-US" sz="24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4B42425-8530-EA8B-19F3-370F993EC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57" y="808522"/>
            <a:ext cx="8789028" cy="4090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6863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Upper-tier informal</a:t>
            </a:r>
            <a:endParaRPr lang="en-US" sz="2400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2187CFA0-9D3C-ED7B-134D-38DA92919A8A}"/>
              </a:ext>
            </a:extLst>
          </p:cNvPr>
          <p:cNvGrpSpPr/>
          <p:nvPr/>
        </p:nvGrpSpPr>
        <p:grpSpPr>
          <a:xfrm>
            <a:off x="3273552" y="1456784"/>
            <a:ext cx="2697480" cy="2194560"/>
            <a:chOff x="3204972" y="819471"/>
            <a:chExt cx="2697480" cy="2194560"/>
          </a:xfrm>
        </p:grpSpPr>
        <p:sp>
          <p:nvSpPr>
            <p:cNvPr id="15" name="Shape 13"/>
            <p:cNvSpPr/>
            <p:nvPr/>
          </p:nvSpPr>
          <p:spPr>
            <a:xfrm>
              <a:off x="3204972" y="819471"/>
              <a:ext cx="2697480" cy="2194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AR" dirty="0"/>
            </a:p>
          </p:txBody>
        </p: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B4686E0-55A6-7295-9FA2-140B05F3FEA4}"/>
                </a:ext>
              </a:extLst>
            </p:cNvPr>
            <p:cNvGrpSpPr/>
            <p:nvPr/>
          </p:nvGrpSpPr>
          <p:grpSpPr>
            <a:xfrm>
              <a:off x="3204972" y="827532"/>
              <a:ext cx="2697480" cy="2039112"/>
              <a:chOff x="3204972" y="827532"/>
              <a:chExt cx="2697480" cy="2039112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204972" y="827532"/>
                <a:ext cx="2697480" cy="292608"/>
              </a:xfrm>
              <a:prstGeom prst="rect">
                <a:avLst/>
              </a:prstGeom>
              <a:solidFill>
                <a:srgbClr val="C0392B"/>
              </a:solidFill>
              <a:ln w="12700">
                <a:solidFill>
                  <a:srgbClr val="C0392B"/>
                </a:solidFill>
                <a:prstDash val="solid"/>
              </a:ln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3296412" y="845820"/>
                <a:ext cx="251460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Condición 2</a:t>
                </a:r>
                <a:endParaRPr lang="en-US" sz="9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296412" y="1193292"/>
                <a:ext cx="25146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descuento jubilatorio</a:t>
                </a:r>
                <a:endParaRPr lang="en-US" sz="1300" dirty="0"/>
              </a:p>
            </p:txBody>
          </p:sp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2E85C17C-596A-40EA-BE81-59BA1D375F49}"/>
                  </a:ext>
                </a:extLst>
              </p:cNvPr>
              <p:cNvGrpSpPr/>
              <p:nvPr/>
            </p:nvGrpSpPr>
            <p:grpSpPr>
              <a:xfrm>
                <a:off x="3273552" y="1632204"/>
                <a:ext cx="2560319" cy="347472"/>
                <a:chOff x="3118105" y="3707892"/>
                <a:chExt cx="2560319" cy="347472"/>
              </a:xfrm>
            </p:grpSpPr>
            <p:sp>
              <p:nvSpPr>
                <p:cNvPr id="19" name="Shape 17"/>
                <p:cNvSpPr/>
                <p:nvPr/>
              </p:nvSpPr>
              <p:spPr>
                <a:xfrm>
                  <a:off x="3118105" y="3707892"/>
                  <a:ext cx="2514600" cy="347472"/>
                </a:xfrm>
                <a:prstGeom prst="rect">
                  <a:avLst/>
                </a:prstGeom>
                <a:solidFill>
                  <a:srgbClr val="F1F5F9"/>
                </a:solidFill>
                <a:ln w="12700">
                  <a:solidFill>
                    <a:srgbClr val="F1F5F9"/>
                  </a:solidFill>
                  <a:prstDash val="solid"/>
                </a:ln>
              </p:spPr>
              <p:txBody>
                <a:bodyPr/>
                <a:lstStyle/>
                <a:p>
                  <a:endParaRPr lang="es-AR" dirty="0"/>
                </a:p>
              </p:txBody>
            </p:sp>
            <p:sp>
              <p:nvSpPr>
                <p:cNvPr id="20" name="Text 18"/>
                <p:cNvSpPr/>
                <p:nvPr/>
              </p:nvSpPr>
              <p:spPr>
                <a:xfrm>
                  <a:off x="3296411" y="3707892"/>
                  <a:ext cx="2382013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100" i="1" dirty="0">
                      <a:solidFill>
                        <a:srgbClr val="1E293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PP07H = 2  (no le descuentan jubilación)</a:t>
                  </a:r>
                  <a:endParaRPr lang="en-US" sz="1100" dirty="0"/>
                </a:p>
              </p:txBody>
            </p:sp>
          </p:grpSp>
          <p:sp>
            <p:nvSpPr>
              <p:cNvPr id="21" name="Text 19"/>
              <p:cNvSpPr/>
              <p:nvPr/>
            </p:nvSpPr>
            <p:spPr>
              <a:xfrm>
                <a:off x="3296412" y="2061972"/>
                <a:ext cx="2514600" cy="8046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Las tres condiciones deben cumplirse simultáneamente</a:t>
                </a:r>
                <a:endParaRPr lang="en-US" sz="1000" dirty="0"/>
              </a:p>
            </p:txBody>
          </p:sp>
        </p:grp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4A31110B-DDE7-CDB3-3688-1E0E924AB934}"/>
              </a:ext>
            </a:extLst>
          </p:cNvPr>
          <p:cNvGrpSpPr/>
          <p:nvPr/>
        </p:nvGrpSpPr>
        <p:grpSpPr>
          <a:xfrm>
            <a:off x="6227064" y="1474470"/>
            <a:ext cx="2697480" cy="2194560"/>
            <a:chOff x="6025896" y="2423160"/>
            <a:chExt cx="2697480" cy="2194560"/>
          </a:xfrm>
        </p:grpSpPr>
        <p:sp>
          <p:nvSpPr>
            <p:cNvPr id="22" name="Shape 20"/>
            <p:cNvSpPr/>
            <p:nvPr/>
          </p:nvSpPr>
          <p:spPr>
            <a:xfrm>
              <a:off x="6025896" y="2423160"/>
              <a:ext cx="2697480" cy="2194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Shape 21"/>
            <p:cNvSpPr/>
            <p:nvPr/>
          </p:nvSpPr>
          <p:spPr>
            <a:xfrm>
              <a:off x="6025896" y="2423160"/>
              <a:ext cx="2697480" cy="292608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Text 22"/>
            <p:cNvSpPr/>
            <p:nvPr/>
          </p:nvSpPr>
          <p:spPr>
            <a:xfrm>
              <a:off x="6117336" y="2441448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Condición 3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117336" y="2788920"/>
              <a:ext cx="2514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Empresa de más de 5 personas</a:t>
              </a:r>
              <a:endParaRPr lang="en-US" sz="13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117336" y="3218688"/>
              <a:ext cx="2514600" cy="347472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Text 25"/>
            <p:cNvSpPr/>
            <p:nvPr/>
          </p:nvSpPr>
          <p:spPr>
            <a:xfrm>
              <a:off x="6285296" y="3218688"/>
              <a:ext cx="2346639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PP04C ≥ 6  (6=6-10, 7=11-25, ...)</a:t>
              </a:r>
              <a:endParaRPr lang="en-US" sz="11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117336" y="3657600"/>
              <a:ext cx="251460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Las tres condiciones deben cumplirse simultáneamente</a:t>
              </a:r>
              <a:endParaRPr lang="en-US" sz="1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E7089C02-D3EE-4350-B73F-A829C315E1E2}"/>
              </a:ext>
            </a:extLst>
          </p:cNvPr>
          <p:cNvGrpSpPr/>
          <p:nvPr/>
        </p:nvGrpSpPr>
        <p:grpSpPr>
          <a:xfrm>
            <a:off x="0" y="1456784"/>
            <a:ext cx="3035808" cy="2194560"/>
            <a:chOff x="0" y="2404872"/>
            <a:chExt cx="3035808" cy="2194560"/>
          </a:xfrm>
        </p:grpSpPr>
        <p:sp>
          <p:nvSpPr>
            <p:cNvPr id="8" name="Shape 6"/>
            <p:cNvSpPr/>
            <p:nvPr/>
          </p:nvSpPr>
          <p:spPr>
            <a:xfrm>
              <a:off x="338328" y="2404872"/>
              <a:ext cx="2697480" cy="2194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Shape 7"/>
            <p:cNvSpPr/>
            <p:nvPr/>
          </p:nvSpPr>
          <p:spPr>
            <a:xfrm>
              <a:off x="320040" y="2423160"/>
              <a:ext cx="2697480" cy="292608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 8"/>
            <p:cNvSpPr/>
            <p:nvPr/>
          </p:nvSpPr>
          <p:spPr>
            <a:xfrm>
              <a:off x="411480" y="2441448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Condición 1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2788920"/>
              <a:ext cx="2514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 asalariado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9768" y="3200400"/>
              <a:ext cx="2514600" cy="347472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es-AR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3657600"/>
              <a:ext cx="251460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Las tres condiciones deben cumplirse simultáneamente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0" y="3218688"/>
              <a:ext cx="25146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CAT_OCUP = 3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Upper-tier informal por sexo y año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560010"/>
              </p:ext>
            </p:extLst>
          </p:nvPr>
        </p:nvGraphicFramePr>
        <p:xfrm>
          <a:off x="320040" y="1261872"/>
          <a:ext cx="8503920" cy="3291841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asalariados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Upper-tier informal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 —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5.076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Varones —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6.252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10.821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 —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4.810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Varones —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6.011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766560" y="128016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Informales</a:t>
            </a:r>
            <a:endParaRPr lang="en-US" sz="10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C0BAEA3-309B-4559-7C51-D73FA7539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414" y="84392"/>
            <a:ext cx="6618124" cy="4930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hallazgos del TP2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023360" cy="1143000"/>
          </a:xfrm>
          <a:prstGeom prst="rect">
            <a:avLst/>
          </a:prstGeom>
          <a:solidFill>
            <a:srgbClr val="16205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21792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 limpia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36829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variables seleccionadas, armonizadas y ajustadas por inflación (factor 1.79)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4023360" cy="1143000"/>
          </a:xfrm>
          <a:prstGeom prst="rect">
            <a:avLst/>
          </a:prstGeom>
          <a:solidFill>
            <a:srgbClr val="16205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010912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10912" y="236829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de nulos en variables de empleo — por diseño del cuestionario, no por error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023360" cy="1143000"/>
          </a:xfrm>
          <a:prstGeom prst="rect">
            <a:avLst/>
          </a:prstGeom>
          <a:solidFill>
            <a:srgbClr val="16205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21792" y="3383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6941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Upper-tier en 2024 → 14% en 2025. Varones más informales que mujeres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291840"/>
            <a:ext cx="4023360" cy="1143000"/>
          </a:xfrm>
          <a:prstGeom prst="rect">
            <a:avLst/>
          </a:prstGeom>
          <a:solidFill>
            <a:srgbClr val="16205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010912" y="3383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36941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Informales tienen distribución más concentrada y más baja que los formales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544</Words>
  <Application>Microsoft Macintosh PowerPoint</Application>
  <PresentationFormat>Presentación en pantalla (16:9)</PresentationFormat>
  <Paragraphs>98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 — Big Data y ML UBA 2026</dc:title>
  <dc:subject>PptxGenJS Presentation</dc:subject>
  <dc:creator>PptxGenJS</dc:creator>
  <cp:lastModifiedBy>Nahuel Andres Vasquez</cp:lastModifiedBy>
  <cp:revision>2</cp:revision>
  <dcterms:created xsi:type="dcterms:W3CDTF">2026-04-09T21:33:16Z</dcterms:created>
  <dcterms:modified xsi:type="dcterms:W3CDTF">2026-04-10T05:33:43Z</dcterms:modified>
</cp:coreProperties>
</file>